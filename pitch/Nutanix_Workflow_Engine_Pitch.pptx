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P LAPTOP" userId="ec7ea387c0c6a20c" providerId="LiveId" clId="{1FB4E9E3-8E88-4BCB-8138-9317B23DC198}"/>
    <pc:docChg chg="custSel modSld">
      <pc:chgData name="HP LAPTOP" userId="ec7ea387c0c6a20c" providerId="LiveId" clId="{1FB4E9E3-8E88-4BCB-8138-9317B23DC198}" dt="2026-09-06T20:27:15.947" v="225" actId="20577"/>
      <pc:docMkLst>
        <pc:docMk/>
      </pc:docMkLst>
      <pc:sldChg chg="modSp mod">
        <pc:chgData name="HP LAPTOP" userId="ec7ea387c0c6a20c" providerId="LiveId" clId="{1FB4E9E3-8E88-4BCB-8138-9317B23DC198}" dt="2026-09-06T18:07:16.313" v="110" actId="20577"/>
        <pc:sldMkLst>
          <pc:docMk/>
          <pc:sldMk cId="0" sldId="256"/>
        </pc:sldMkLst>
        <pc:spChg chg="mod">
          <ac:chgData name="HP LAPTOP" userId="ec7ea387c0c6a20c" providerId="LiveId" clId="{1FB4E9E3-8E88-4BCB-8138-9317B23DC198}" dt="2026-09-06T18:07:16.313" v="110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HP LAPTOP" userId="ec7ea387c0c6a20c" providerId="LiveId" clId="{1FB4E9E3-8E88-4BCB-8138-9317B23DC198}" dt="2026-09-06T20:27:15.947" v="225" actId="20577"/>
        <pc:sldMkLst>
          <pc:docMk/>
          <pc:sldMk cId="0" sldId="270"/>
        </pc:sldMkLst>
        <pc:spChg chg="mod">
          <ac:chgData name="HP LAPTOP" userId="ec7ea387c0c6a20c" providerId="LiveId" clId="{1FB4E9E3-8E88-4BCB-8138-9317B23DC198}" dt="2026-09-06T20:27:15.947" v="225" actId="20577"/>
          <ac:spMkLst>
            <pc:docMk/>
            <pc:sldMk cId="0" sldId="270"/>
            <ac:spMk id="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059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4" name="Oval 3"/>
          <p:cNvSpPr/>
          <p:nvPr/>
        </p:nvSpPr>
        <p:spPr>
          <a:xfrm>
            <a:off x="8138160" y="-2011680"/>
            <a:ext cx="6858000" cy="6858000"/>
          </a:xfrm>
          <a:prstGeom prst="ellipse">
            <a:avLst/>
          </a:prstGeom>
          <a:solidFill>
            <a:srgbClr val="7C4DFF">
              <a:lumMod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0" y="-1828800"/>
            <a:ext cx="7315200" cy="64008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63840" y="-1828800"/>
            <a:ext cx="5486400" cy="64008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50292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>
                <a:solidFill>
                  <a:srgbClr val="D94EFC"/>
                </a:solidFill>
                <a:latin typeface="Segoe UI"/>
              </a:rPr>
              <a:t>NUTANIX HACKATHON 2026  ·  PROJECT AREA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859536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6400" b="1">
                <a:solidFill>
                  <a:srgbClr val="F4F0FC"/>
                </a:solidFill>
                <a:latin typeface="Segoe UI"/>
              </a:rPr>
              <a:t>FLOWFORGE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600" b="1">
                <a:solidFill>
                  <a:srgbClr val="D94EFC"/>
                </a:solidFill>
                <a:latin typeface="Segoe UI"/>
              </a:rPr>
              <a:t>JSON-Driven Workflow Execution Engine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A79EC6"/>
                </a:solidFill>
                <a:latin typeface="Segoe UI"/>
              </a:rPr>
              <a:t>Define once. Execute anywhere.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2834640" cy="50292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8686800" cy="8279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 dirty="0">
                <a:solidFill>
                  <a:srgbClr val="F4F0FC"/>
                </a:solidFill>
                <a:latin typeface="Segoe UI"/>
              </a:rPr>
              <a:t>Workflows as data - shell scripts, REST APIs, Python, loops, retries and conditions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 dirty="0">
                <a:solidFill>
                  <a:srgbClr val="A79EC6"/>
                </a:solidFill>
                <a:latin typeface="Segoe UI"/>
              </a:rPr>
              <a:t>Team: </a:t>
            </a:r>
            <a:r>
              <a:rPr lang="en-US" sz="1300" dirty="0">
                <a:solidFill>
                  <a:srgbClr val="A79EC6"/>
                </a:solidFill>
                <a:latin typeface="Segoe UI"/>
              </a:rPr>
              <a:t>Coders</a:t>
            </a:r>
            <a:r>
              <a:rPr sz="1300" b="0" dirty="0">
                <a:solidFill>
                  <a:srgbClr val="A79EC6"/>
                </a:solidFill>
                <a:latin typeface="Segoe UI"/>
              </a:rPr>
              <a:t>   | </a:t>
            </a:r>
            <a:r>
              <a:rPr lang="en-US" sz="1300" b="0" dirty="0">
                <a:solidFill>
                  <a:srgbClr val="A79EC6"/>
                </a:solidFill>
                <a:latin typeface="Segoe UI"/>
              </a:rPr>
              <a:t>Rishabh Kabra Himanshu Paswan Abhishek Kumar Sagar Barman Vasudev </a:t>
            </a:r>
            <a:endParaRPr sz="1300" b="0" dirty="0">
              <a:solidFill>
                <a:srgbClr val="A79EC6"/>
              </a:solidFill>
              <a:latin typeface="Segoe UI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dirty="0">
                <a:solidFill>
                  <a:srgbClr val="A79EC6"/>
                </a:solidFill>
                <a:latin typeface="Segoe UI"/>
              </a:rPr>
              <a:t>GitHub: ·  Demo video: ·  Deck: 15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WHY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577840" cy="40233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" y="1618488"/>
            <a:ext cx="5468112" cy="38953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latin typeface="Segoe UI"/>
              </a:rPr>
              <a:t>  </a:t>
            </a:r>
            <a:r>
              <a:rPr sz="1100">
                <a:solidFill>
                  <a:srgbClr val="D94EFC"/>
                </a:solidFill>
                <a:latin typeface="Segoe UI"/>
              </a:rPr>
              <a:t>● </a:t>
            </a:r>
            <a:r>
              <a:rPr sz="1400">
                <a:solidFill>
                  <a:srgbClr val="F4F0FC"/>
                </a:solidFill>
                <a:latin typeface="Segoe UI"/>
              </a:rPr>
              <a:t>Automation today is glue code - scripts calling scripts, hardcoded endpoints, magic ordering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latin typeface="Segoe UI"/>
              </a:rPr>
              <a:t>  </a:t>
            </a:r>
            <a:r>
              <a:rPr sz="1100">
                <a:solidFill>
                  <a:srgbClr val="D94EFC"/>
                </a:solidFill>
                <a:latin typeface="Segoe UI"/>
              </a:rPr>
              <a:t>● </a:t>
            </a:r>
            <a:r>
              <a:rPr sz="1400">
                <a:solidFill>
                  <a:srgbClr val="F4F0FC"/>
                </a:solidFill>
                <a:latin typeface="Segoe UI"/>
              </a:rPr>
              <a:t>No single source of truth for 'how work gets done'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latin typeface="Segoe UI"/>
              </a:rPr>
              <a:t>  </a:t>
            </a:r>
            <a:r>
              <a:rPr sz="1100">
                <a:solidFill>
                  <a:srgbClr val="D94EFC"/>
                </a:solidFill>
                <a:latin typeface="Segoe UI"/>
              </a:rPr>
              <a:t>● </a:t>
            </a:r>
            <a:r>
              <a:rPr sz="1400">
                <a:solidFill>
                  <a:srgbClr val="F4F0FC"/>
                </a:solidFill>
                <a:latin typeface="Segoe UI"/>
              </a:rPr>
              <a:t>Fragile: no retries, no timeouts, no visibility when things break at 2 AM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latin typeface="Segoe UI"/>
              </a:rPr>
              <a:t>  </a:t>
            </a:r>
            <a:r>
              <a:rPr sz="1100">
                <a:solidFill>
                  <a:srgbClr val="D94EFC"/>
                </a:solidFill>
                <a:latin typeface="Segoe UI"/>
              </a:rPr>
              <a:t>● </a:t>
            </a:r>
            <a:r>
              <a:rPr sz="1400">
                <a:solidFill>
                  <a:srgbClr val="F4F0FC"/>
                </a:solidFill>
                <a:latin typeface="Segoe UI"/>
              </a:rPr>
              <a:t>No audit trail - who ran what, when, with which inputs?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latin typeface="Segoe UI"/>
              </a:rPr>
              <a:t>  </a:t>
            </a:r>
            <a:r>
              <a:rPr sz="1100">
                <a:solidFill>
                  <a:srgbClr val="D94EFC"/>
                </a:solidFill>
                <a:latin typeface="Segoe UI"/>
              </a:rPr>
              <a:t>● </a:t>
            </a:r>
            <a:r>
              <a:rPr sz="1400">
                <a:solidFill>
                  <a:srgbClr val="F4F0FC"/>
                </a:solidFill>
                <a:latin typeface="Segoe UI"/>
              </a:rPr>
              <a:t>Every new automation is a new bespoke script that only one person understands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latin typeface="Segoe UI"/>
              </a:rPr>
              <a:t>  </a:t>
            </a:r>
            <a:r>
              <a:rPr sz="1100">
                <a:solidFill>
                  <a:srgbClr val="D94EFC"/>
                </a:solidFill>
                <a:latin typeface="Segoe UI"/>
              </a:rPr>
              <a:t>● </a:t>
            </a:r>
            <a:r>
              <a:rPr sz="1400">
                <a:solidFill>
                  <a:srgbClr val="F4F0FC"/>
                </a:solidFill>
                <a:latin typeface="Segoe UI"/>
              </a:rPr>
              <a:t>Ops runbooks live in docs; the actual steps live in someone's terminal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54480"/>
            <a:ext cx="5330952" cy="402336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4800600" cy="3566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D94EFC"/>
                </a:solidFill>
                <a:latin typeface="Segoe UI"/>
              </a:rPr>
              <a:t>THE COST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F4F0FC"/>
                </a:solidFill>
                <a:latin typeface="Segoe UI"/>
              </a:rPr>
              <a:t>Slow onboarding - automation knowledge is tribal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F4F0FC"/>
                </a:solidFill>
                <a:latin typeface="Segoe UI"/>
              </a:rPr>
              <a:t>Outages from unreviewable, un-versioned scripts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F4F0FC"/>
                </a:solidFill>
                <a:latin typeface="Segoe UI"/>
              </a:rPr>
              <a:t>No retries means manual firefighting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F4F0FC"/>
                </a:solidFill>
                <a:latin typeface="Segoe UI"/>
              </a:rPr>
              <a:t>No reuse - teams reinvent the same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35000"/>
            </a:avLst>
          </a:prstGeom>
          <a:solidFill>
            <a:srgbClr val="7C4DFF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4F0FC"/>
                </a:solidFill>
                <a:latin typeface="Segoe UI"/>
              </a:rPr>
              <a:t>There is no single declarative way to define, run, and observe any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THE IDEA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The Big Idea - Workflow as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6984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4F0FC"/>
                </a:solidFill>
                <a:latin typeface="Segoe UI"/>
              </a:rPr>
              <a:t>We don't write workflows as code. We describe them as data - and the engine does the 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34640"/>
            <a:ext cx="5577840" cy="301752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2898648"/>
            <a:ext cx="5468112" cy="2889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Workflow = one JSON document</a:t>
            </a:r>
            <a:r>
              <a:rPr sz="1300">
                <a:solidFill>
                  <a:srgbClr val="A79EC6"/>
                </a:solidFill>
                <a:latin typeface="Segoe UI"/>
              </a:rPr>
              <a:t>  the whole pipeline in a single reviewable file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Version it like code</a:t>
            </a:r>
            <a:r>
              <a:rPr sz="1300">
                <a:solidFill>
                  <a:srgbClr val="A79EC6"/>
                </a:solidFill>
                <a:latin typeface="Segoe UI"/>
              </a:rPr>
              <a:t>  Git diff every change, approve like any PR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Trigger from anywhere</a:t>
            </a:r>
            <a:r>
              <a:rPr sz="1300">
                <a:solidFill>
                  <a:srgbClr val="A79EC6"/>
                </a:solidFill>
                <a:latin typeface="Segoe UI"/>
              </a:rPr>
              <a:t>  CLI, REST API, dashboard - even curl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Reuse step libraries</a:t>
            </a:r>
            <a:r>
              <a:rPr sz="1300">
                <a:solidFill>
                  <a:srgbClr val="A79EC6"/>
                </a:solidFill>
                <a:latin typeface="Segoe UI"/>
              </a:rPr>
              <a:t>  shell, http, python, loops - compose, don't rewrite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834640"/>
            <a:ext cx="5330952" cy="3017520"/>
          </a:xfrm>
          <a:prstGeom prst="roundRect">
            <a:avLst>
              <a:gd name="adj" fmla="val 6000"/>
            </a:avLst>
          </a:prstGeom>
          <a:solidFill>
            <a:srgbClr val="110D1B"/>
          </a:solidFill>
          <a:ln w="12700">
            <a:solidFill>
              <a:srgbClr val="33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889504"/>
            <a:ext cx="5184648" cy="2907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D94EFC"/>
                </a:solidFill>
                <a:latin typeface="Consolas"/>
              </a:rPr>
              <a:t>{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"name": "Deploy pipeline",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"variables": { "env": "staging"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"steps": [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D94EFC"/>
                </a:solidFill>
                <a:latin typeface="Consolas"/>
              </a:rPr>
              <a:t>    { "id": "build",   "type": "shell",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  "command": "make build"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D94EFC"/>
                </a:solidFill>
                <a:latin typeface="Consolas"/>
              </a:rPr>
              <a:t>    { "id": "deploy",  "type": "http",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  "url": "http://host/api/deploy",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  "body": { "env": "{{ variables.env }}"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  "depends_on": ["build"],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  "retry": { "max_attempts": 3 }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D94EFC"/>
                </a:solidFill>
                <a:latin typeface="Consolas"/>
              </a:rPr>
              <a:t>    { "id": "notify",  "type": "http",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  "url": "http://host/api/notify",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  "depends_on": ["deploy"] }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  ]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D94EF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HOW IT WORKS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Anatomy of a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989320" cy="4754880"/>
          </a:xfrm>
          <a:prstGeom prst="roundRect">
            <a:avLst>
              <a:gd name="adj" fmla="val 6000"/>
            </a:avLst>
          </a:prstGeom>
          <a:solidFill>
            <a:srgbClr val="110D1B"/>
          </a:solidFill>
          <a:ln w="12700">
            <a:solidFill>
              <a:srgbClr val="33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609344"/>
            <a:ext cx="5843016" cy="46451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D94EFC"/>
                </a:solidFill>
                <a:latin typeface="Consolas"/>
              </a:rPr>
              <a:t>deploy_workflow.json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D94EFC"/>
                </a:solidFill>
                <a:latin typeface="Consolas"/>
              </a:rPr>
              <a:t>{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"name": "CI-CD Deploy Pipeline",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"version": "1.0.0",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"variables": { "environment": "staging"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"steps": [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D94EFC"/>
                </a:solidFill>
                <a:latin typeface="Consolas"/>
              </a:rPr>
              <a:t>    { "id": "checkout", "type": "shell",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"command": "echo v1.2.0"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D94EFC"/>
                </a:solidFill>
                <a:latin typeface="Consolas"/>
              </a:rPr>
              <a:t>    { "id": "unit_tests", "type": "shell",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"command": "pytest", "depends_on": ["checkout"]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D94EFC"/>
                </a:solidFill>
                <a:latin typeface="Consolas"/>
              </a:rPr>
              <a:t>    { "id": "deploy", "type": "http",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"method": "POST",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"url": "http://svc/api/deploy",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"body": { "environment":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F4F0FC"/>
                </a:solidFill>
                <a:latin typeface="Consolas"/>
              </a:rPr>
              <a:t>        "{{ variables.environment }}"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"depends_on": ["unit_tests", "lint"],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"retry": { "max_attempts": 3,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           "backoff_factor": 2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"condition": "{{ steps.unit_tests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F4F0FC"/>
                </a:solidFill>
                <a:latin typeface="Consolas"/>
              </a:rPr>
              <a:t>        .output.exit_code }} == 0" },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D94EFC"/>
                </a:solidFill>
                <a:latin typeface="Consolas"/>
              </a:rPr>
              <a:t>    { "id": "notify_failure", "type": "http",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"run": "on_failure",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EC5FF"/>
                </a:solidFill>
                <a:latin typeface="Consolas"/>
              </a:rPr>
              <a:t>      "depends_on": ["deploy"] }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F4F0FC"/>
                </a:solidFill>
                <a:latin typeface="Consolas"/>
              </a:rPr>
              <a:t>  ]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D94EFC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554480"/>
            <a:ext cx="4983480" cy="475488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75704" y="1618488"/>
            <a:ext cx="4873752" cy="46268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D94EFC"/>
                </a:solidFill>
                <a:latin typeface="Segoe UI"/>
              </a:rPr>
              <a:t>ONE FILE DESCRIBES THE ENTIRE PIPELINE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F4F0FC"/>
                </a:solidFill>
                <a:latin typeface="Segoe UI"/>
              </a:rPr>
              <a:t>variables</a:t>
            </a:r>
            <a:r>
              <a:rPr sz="1250">
                <a:solidFill>
                  <a:srgbClr val="A79EC6"/>
                </a:solidFill>
                <a:latin typeface="Segoe UI"/>
              </a:rPr>
              <a:t>  shared inputs, overridable per run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F4F0FC"/>
                </a:solidFill>
                <a:latin typeface="Segoe UI"/>
              </a:rPr>
              <a:t>type</a:t>
            </a:r>
            <a:r>
              <a:rPr sz="1250">
                <a:solidFill>
                  <a:srgbClr val="A79EC6"/>
                </a:solidFill>
                <a:latin typeface="Segoe UI"/>
              </a:rPr>
              <a:t>  which executor runs the step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F4F0FC"/>
                </a:solidFill>
                <a:latin typeface="Segoe UI"/>
              </a:rPr>
              <a:t>depends_on</a:t>
            </a:r>
            <a:r>
              <a:rPr sz="1250">
                <a:solidFill>
                  <a:srgbClr val="A79EC6"/>
                </a:solidFill>
                <a:latin typeface="Segoe UI"/>
              </a:rPr>
              <a:t>  edges of the execution DAG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F4F0FC"/>
                </a:solidFill>
                <a:latin typeface="Segoe UI"/>
              </a:rPr>
              <a:t>{{ ... }}</a:t>
            </a:r>
            <a:r>
              <a:rPr sz="1250">
                <a:solidFill>
                  <a:srgbClr val="A79EC6"/>
                </a:solidFill>
                <a:latin typeface="Segoe UI"/>
              </a:rPr>
              <a:t>  interpolation - outputs flow into later steps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F4F0FC"/>
                </a:solidFill>
                <a:latin typeface="Segoe UI"/>
              </a:rPr>
              <a:t>retry</a:t>
            </a:r>
            <a:r>
              <a:rPr sz="1250">
                <a:solidFill>
                  <a:srgbClr val="A79EC6"/>
                </a:solidFill>
                <a:latin typeface="Segoe UI"/>
              </a:rPr>
              <a:t>  exponential backoff on failure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F4F0FC"/>
                </a:solidFill>
                <a:latin typeface="Segoe UI"/>
              </a:rPr>
              <a:t>condition</a:t>
            </a:r>
            <a:r>
              <a:rPr sz="1250">
                <a:solidFill>
                  <a:srgbClr val="A79EC6"/>
                </a:solidFill>
                <a:latin typeface="Segoe UI"/>
              </a:rPr>
              <a:t>  decide whether a step runs at all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F4F0FC"/>
                </a:solidFill>
                <a:latin typeface="Segoe UI"/>
              </a:rPr>
              <a:t>run: on_failure</a:t>
            </a:r>
            <a:r>
              <a:rPr sz="1250">
                <a:solidFill>
                  <a:srgbClr val="A79EC6"/>
                </a:solidFill>
                <a:latin typeface="Segoe UI"/>
              </a:rPr>
              <a:t>  error paths as first-class citizens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UNDER THE HOOD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852160" cy="969264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53949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JSON DEFINITION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validated &amp; compiled</a:t>
            </a:r>
          </a:p>
        </p:txBody>
      </p:sp>
      <p:sp>
        <p:nvSpPr>
          <p:cNvPr id="8" name="Down Arrow 7"/>
          <p:cNvSpPr/>
          <p:nvPr/>
        </p:nvSpPr>
        <p:spPr>
          <a:xfrm>
            <a:off x="2926080" y="2569464"/>
            <a:ext cx="457200" cy="310896"/>
          </a:xfrm>
          <a:prstGeom prst="down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880360"/>
            <a:ext cx="5852160" cy="969264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990088"/>
            <a:ext cx="53949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DAG SCHEDULER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topological order · parallel batches · timeouts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26080" y="3849624"/>
            <a:ext cx="457200" cy="310896"/>
          </a:xfrm>
          <a:prstGeom prst="down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5852160" cy="969264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270248"/>
            <a:ext cx="53949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STEP EXECUTORS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shell · http · python · condition · delay · foreach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926080" y="5129784"/>
            <a:ext cx="457200" cy="310896"/>
          </a:xfrm>
          <a:prstGeom prst="down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5440680"/>
            <a:ext cx="5852160" cy="969264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550408"/>
            <a:ext cx="53949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RUN ARTIFACTS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per-step results · logs · JSON audit trail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600200"/>
            <a:ext cx="4983480" cy="475488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95160" y="1783080"/>
            <a:ext cx="4480560" cy="4389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D94EFC"/>
                </a:solidFill>
                <a:latin typeface="Segoe UI"/>
              </a:rPr>
              <a:t>DESIGN DECISIONS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F4F0FC"/>
                </a:solidFill>
                <a:latin typeface="Segoe UI"/>
              </a:rPr>
              <a:t>100% standard library core</a:t>
            </a:r>
            <a:r>
              <a:rPr sz="1250">
                <a:solidFill>
                  <a:srgbClr val="A79EC6"/>
                </a:solidFill>
                <a:latin typeface="Segoe UI"/>
              </a:rPr>
              <a:t>
threading, subprocess, urllib, json - runs anywhere, zero deps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F4F0FC"/>
                </a:solidFill>
                <a:latin typeface="Segoe UI"/>
              </a:rPr>
              <a:t>Engine is recursive</a:t>
            </a:r>
            <a:r>
              <a:rPr sz="1250">
                <a:solidFill>
                  <a:srgbClr val="A79EC6"/>
                </a:solidFill>
                <a:latin typeface="Segoe UI"/>
              </a:rPr>
              <a:t>
foreach reuses the same scheduler - nested workflows get identical guarantees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F4F0FC"/>
                </a:solidFill>
                <a:latin typeface="Segoe UI"/>
              </a:rPr>
              <a:t>Extensible by design</a:t>
            </a:r>
            <a:r>
              <a:rPr sz="1250">
                <a:solidFill>
                  <a:srgbClr val="A79EC6"/>
                </a:solidFill>
                <a:latin typeface="Segoe UI"/>
              </a:rPr>
              <a:t>
@step decorator registers new types; no core changes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F4F0FC"/>
                </a:solidFill>
                <a:latin typeface="Segoe UI"/>
              </a:rPr>
              <a:t>Everything is observable</a:t>
            </a:r>
            <a:r>
              <a:rPr sz="1250">
                <a:solidFill>
                  <a:srgbClr val="A79EC6"/>
                </a:solidFill>
                <a:latin typeface="Segoe UI"/>
              </a:rPr>
              <a:t>
every run becomes a JSON artifact - auditable forever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F4F0FC"/>
                </a:solidFill>
                <a:latin typeface="Segoe UI"/>
              </a:rPr>
              <a:t>Safe expressions</a:t>
            </a:r>
            <a:r>
              <a:rPr sz="1250">
                <a:solidFill>
                  <a:srgbClr val="A79EC6"/>
                </a:solidFill>
                <a:latin typeface="Segoe UI"/>
              </a:rPr>
              <a:t>
a tiny parser for conditions - no eval() of user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WHAT IT HANDLES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Core Engine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30952" cy="169164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489204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Dependency graph (DAG)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steps declare depends_on; engine topologically schedules, detects cycles, skips unreachable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330952" cy="169164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764792"/>
            <a:ext cx="489204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Parallel execution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independent steps run concurrently - a 4-city fetch completes in one call's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5330952" cy="169164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593592"/>
            <a:ext cx="489204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Retries with backoff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per-step policy: max_attempts, backoff seconds, exponential factor - flaky APIs stop being a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429000"/>
            <a:ext cx="5330952" cy="169164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593592"/>
            <a:ext cx="489204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Conditions &amp; run policies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condition: false -&gt; recorded skip; run: on_success / on_failure / always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257800"/>
            <a:ext cx="5330952" cy="169164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422392"/>
            <a:ext cx="489204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Timeouts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per-step and whole-workflow deadlines - nothing hangs forever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5257800"/>
            <a:ext cx="5330952" cy="169164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5422392"/>
            <a:ext cx="489204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D94EFC"/>
                </a:solidFill>
                <a:latin typeface="Segoe UI"/>
              </a:rPr>
              <a:t>Variable interpolation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{{ variables.x }}, {{ steps.a.output.k }}, {{ this.item }} - outputs feed forward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BUILDING BLOCKS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Step Library - 6 Built-in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82496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300" b="1">
                <a:solidFill>
                  <a:srgbClr val="D94EFC"/>
                </a:solidFill>
                <a:latin typeface="Segoe UI"/>
              </a:rPr>
              <a:t>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27632"/>
            <a:ext cx="585216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F4F0FC"/>
                </a:solidFill>
                <a:latin typeface="Segoe UI"/>
              </a:rPr>
              <a:t>Run any command - build, test, deploy 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29260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79EC6"/>
                </a:solidFill>
                <a:latin typeface="Segoe UI"/>
              </a:rPr>
              <a:t>subprocess, timeouts, env vars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300" b="1">
                <a:solidFill>
                  <a:srgbClr val="D94EFC"/>
                </a:solidFill>
                <a:latin typeface="Segoe UI"/>
              </a:rPr>
              <a:t>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68880"/>
            <a:ext cx="585216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F4F0FC"/>
                </a:solidFill>
                <a:latin typeface="Segoe UI"/>
              </a:rPr>
              <a:t>Call any REST API - GET/POST/PUT/PATCH/DELETE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468880"/>
            <a:ext cx="29260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79EC6"/>
                </a:solidFill>
                <a:latin typeface="Segoe UI"/>
              </a:rPr>
              <a:t>headers, JSON body, status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36976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36499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300" b="1">
                <a:solidFill>
                  <a:srgbClr val="D94EFC"/>
                </a:solidFill>
                <a:latin typeface="Segoe UI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310128"/>
            <a:ext cx="585216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F4F0FC"/>
                </a:solidFill>
                <a:latin typeface="Segoe UI"/>
              </a:rPr>
              <a:t>Inline Python with the workflow context in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10128"/>
            <a:ext cx="29260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79EC6"/>
                </a:solidFill>
                <a:latin typeface="Segoe UI"/>
              </a:rPr>
              <a:t>analysis, transforms, custom logic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78224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300" b="1">
                <a:solidFill>
                  <a:srgbClr val="D94EFC"/>
                </a:solidFill>
                <a:latin typeface="Segoe UI"/>
              </a:rPr>
              <a:t>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151376"/>
            <a:ext cx="585216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F4F0FC"/>
                </a:solidFill>
                <a:latin typeface="Segoe UI"/>
              </a:rPr>
              <a:t>Evaluate expressions and record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151376"/>
            <a:ext cx="29260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79EC6"/>
                </a:solidFill>
                <a:latin typeface="Segoe UI"/>
              </a:rPr>
              <a:t>comparisons, boolean logic,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19472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5047488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300" b="1">
                <a:solidFill>
                  <a:srgbClr val="D94EFC"/>
                </a:solidFill>
                <a:latin typeface="Segoe UI"/>
              </a:rPr>
              <a:t>foreach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992624"/>
            <a:ext cx="585216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F4F0FC"/>
                </a:solidFill>
                <a:latin typeface="Segoe UI"/>
              </a:rPr>
              <a:t>Loop over lists - optionally in parallel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992624"/>
            <a:ext cx="29260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79EC6"/>
                </a:solidFill>
                <a:latin typeface="Segoe UI"/>
              </a:rPr>
              <a:t>{{ this.item }} / {{ this.index }}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760720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5888736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300" b="1">
                <a:solidFill>
                  <a:srgbClr val="D94EFC"/>
                </a:solidFill>
                <a:latin typeface="Segoe UI"/>
              </a:rPr>
              <a:t>delay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833872"/>
            <a:ext cx="585216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F4F0FC"/>
                </a:solidFill>
                <a:latin typeface="Segoe UI"/>
              </a:rPr>
              <a:t>Pace a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5833872"/>
            <a:ext cx="29260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79EC6"/>
                </a:solidFill>
                <a:latin typeface="Segoe UI"/>
              </a:rPr>
              <a:t>sleep N seconds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42432"/>
            <a:ext cx="11183112" cy="621792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4F0FC"/>
                </a:solidFill>
                <a:latin typeface="Segoe UI"/>
              </a:rPr>
              <a:t>Plus: your own step types in 5 lines - next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PLUGIN ARCHITECTURE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Extensibility - the 5-Line Plugin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6675120" cy="3108960"/>
          </a:xfrm>
          <a:prstGeom prst="roundRect">
            <a:avLst>
              <a:gd name="adj" fmla="val 6000"/>
            </a:avLst>
          </a:prstGeom>
          <a:solidFill>
            <a:srgbClr val="110D1B"/>
          </a:solidFill>
          <a:ln w="12700">
            <a:solidFill>
              <a:srgbClr val="33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609344"/>
            <a:ext cx="6528816" cy="2999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D94EFC"/>
                </a:solidFill>
                <a:latin typeface="Consolas"/>
              </a:rPr>
              <a:t>registering a new step type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A79EC6"/>
                </a:solidFill>
                <a:latin typeface="Consolas"/>
              </a:rPr>
              <a:t># my_steps.py - that's the whole contract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from flowforge.registry import step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from flowforge.steps.base import StepExecutor, StepOutput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@step("slack")                    # 1 decorator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class SlackStep(StepExecutor):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def validate_config(self, config):   # fail early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        return [] if "message" in config \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            else ["slack needs 'message'"]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def execute(self, step, context, run):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        msg = run.interpolate(step.config["message"])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        return StepOutput(output={"sent": msg})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92040"/>
            <a:ext cx="6675120" cy="1371600"/>
          </a:xfrm>
          <a:prstGeom prst="roundRect">
            <a:avLst>
              <a:gd name="adj" fmla="val 6000"/>
            </a:avLst>
          </a:prstGeom>
          <a:solidFill>
            <a:srgbClr val="110D1B"/>
          </a:solidFill>
          <a:ln w="12700">
            <a:solidFill>
              <a:srgbClr val="33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4946904"/>
            <a:ext cx="6528816" cy="12618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$ python -m flowforge run wf.json \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    --plugin my_steps.py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[OK] announce  [slack]  success  12ms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554480"/>
            <a:ext cx="4251960" cy="47091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07224" y="1618488"/>
            <a:ext cx="4142232" cy="45811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D94EFC"/>
                </a:solidFill>
                <a:latin typeface="Segoe UI"/>
              </a:rPr>
              <a:t>WHY IT MATTERS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00">
                <a:solidFill>
                  <a:srgbClr val="F4F0FC"/>
                </a:solidFill>
                <a:latin typeface="Segoe UI"/>
              </a:rPr>
              <a:t>No core changes - the registry discovers new types automatically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00">
                <a:solidFill>
                  <a:srgbClr val="F4F0FC"/>
                </a:solidFill>
                <a:latin typeface="Segoe UI"/>
              </a:rPr>
              <a:t>Built-ins and custom steps get the same engine guarantees: retries, timeouts, conditions, logging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00">
                <a:solidFill>
                  <a:srgbClr val="F4F0FC"/>
                </a:solidFill>
                <a:latin typeface="Segoe UI"/>
              </a:rPr>
              <a:t>A team can ship its own step library - e.g. Nutanix Prism, Slack, Jira, internal APIs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00">
                <a:solidFill>
                  <a:srgbClr val="F4F0FC"/>
                </a:solidFill>
                <a:latin typeface="Segoe UI"/>
              </a:rPr>
              <a:t>Validation runs before execution - bad config never starts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TRIGGER IT FROM ANYWHERE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REST API +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760720" cy="475488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212080" cy="4389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D94EFC"/>
                </a:solidFill>
                <a:latin typeface="Segoe UI"/>
              </a:rPr>
              <a:t>REST API  (FastAPI)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3DD68C"/>
                </a:solidFill>
                <a:latin typeface="Consolas"/>
              </a:rPr>
              <a:t>POST  </a:t>
            </a:r>
            <a:r>
              <a:rPr sz="1250">
                <a:solidFill>
                  <a:srgbClr val="F4F0FC"/>
                </a:solidFill>
                <a:latin typeface="Consolas"/>
              </a:rPr>
              <a:t>/api/runs   </a:t>
            </a:r>
            <a:r>
              <a:rPr sz="1250">
                <a:solidFill>
                  <a:srgbClr val="A79EC6"/>
                </a:solidFill>
                <a:latin typeface="Segoe UI"/>
              </a:rPr>
              <a:t>submit a workflow -&gt; run_id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3DD68C"/>
                </a:solidFill>
                <a:latin typeface="Consolas"/>
              </a:rPr>
              <a:t>GET  </a:t>
            </a:r>
            <a:r>
              <a:rPr sz="1250">
                <a:solidFill>
                  <a:srgbClr val="F4F0FC"/>
                </a:solidFill>
                <a:latin typeface="Consolas"/>
              </a:rPr>
              <a:t>/api/runs/{id}   </a:t>
            </a:r>
            <a:r>
              <a:rPr sz="1250">
                <a:solidFill>
                  <a:srgbClr val="A79EC6"/>
                </a:solidFill>
                <a:latin typeface="Segoe UI"/>
              </a:rPr>
              <a:t>live status, steps, logs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3DD68C"/>
                </a:solidFill>
                <a:latin typeface="Consolas"/>
              </a:rPr>
              <a:t>GET  </a:t>
            </a:r>
            <a:r>
              <a:rPr sz="1250">
                <a:solidFill>
                  <a:srgbClr val="F4F0FC"/>
                </a:solidFill>
                <a:latin typeface="Consolas"/>
              </a:rPr>
              <a:t>/api/runs   </a:t>
            </a:r>
            <a:r>
              <a:rPr sz="1250">
                <a:solidFill>
                  <a:srgbClr val="A79EC6"/>
                </a:solidFill>
                <a:latin typeface="Segoe UI"/>
              </a:rPr>
              <a:t>run history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3DD68C"/>
                </a:solidFill>
                <a:latin typeface="Consolas"/>
              </a:rPr>
              <a:t>POST  </a:t>
            </a:r>
            <a:r>
              <a:rPr sz="1250">
                <a:solidFill>
                  <a:srgbClr val="F4F0FC"/>
                </a:solidFill>
                <a:latin typeface="Consolas"/>
              </a:rPr>
              <a:t>/api/workflows/validate   </a:t>
            </a:r>
            <a:r>
              <a:rPr sz="1250">
                <a:solidFill>
                  <a:srgbClr val="A79EC6"/>
                </a:solidFill>
                <a:latin typeface="Segoe UI"/>
              </a:rPr>
              <a:t>check a definition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3DD68C"/>
                </a:solidFill>
                <a:latin typeface="Consolas"/>
              </a:rPr>
              <a:t>GET  </a:t>
            </a:r>
            <a:r>
              <a:rPr sz="1250">
                <a:solidFill>
                  <a:srgbClr val="F4F0FC"/>
                </a:solidFill>
                <a:latin typeface="Consolas"/>
              </a:rPr>
              <a:t>/api/steps   </a:t>
            </a:r>
            <a:r>
              <a:rPr sz="1250">
                <a:solidFill>
                  <a:srgbClr val="A79EC6"/>
                </a:solidFill>
                <a:latin typeface="Segoe UI"/>
              </a:rPr>
              <a:t>registered step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554480"/>
            <a:ext cx="5148072" cy="475488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1737360"/>
            <a:ext cx="4617720" cy="4389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D94EFC"/>
                </a:solidFill>
                <a:latin typeface="Segoe UI"/>
              </a:rPr>
              <a:t>CLI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4F0FC"/>
                </a:solidFill>
                <a:latin typeface="Consolas"/>
              </a:rPr>
              <a:t>validate wf.json   - check before you run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4F0FC"/>
                </a:solidFill>
                <a:latin typeface="Consolas"/>
              </a:rPr>
              <a:t>run wf.json        - execute with live logs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4F0FC"/>
                </a:solidFill>
                <a:latin typeface="Consolas"/>
              </a:rPr>
              <a:t>serve --port 8000  - API + dashboard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4F0FC"/>
                </a:solidFill>
                <a:latin typeface="Consolas"/>
              </a:rPr>
              <a:t>steps              - what can I use?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4F0FC"/>
                </a:solidFill>
                <a:latin typeface="Consolas"/>
              </a:rPr>
              <a:t>--var env=prod     - override variables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43600"/>
            <a:ext cx="11183112" cy="475488"/>
          </a:xfrm>
          <a:prstGeom prst="roundRect">
            <a:avLst>
              <a:gd name="adj" fmla="val 6000"/>
            </a:avLst>
          </a:prstGeom>
          <a:solidFill>
            <a:srgbClr val="110D1B"/>
          </a:solidFill>
          <a:ln w="12700">
            <a:solidFill>
              <a:srgbClr val="33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5998464"/>
            <a:ext cx="1103680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9EC5FF"/>
                </a:solidFill>
                <a:latin typeface="Consolas"/>
              </a:rPr>
              <a:t>curl -X POST localhost:8000/api/runs -d @pipeline.json   # automation from CI, cron, or a webhook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WATCH IT HAPPEN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Live Web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7223760" cy="4754880"/>
          </a:xfrm>
          <a:prstGeom prst="roundRect">
            <a:avLst>
              <a:gd name="adj" fmla="val 6000"/>
            </a:avLst>
          </a:prstGeom>
          <a:solidFill>
            <a:srgbClr val="110D1B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7223760" cy="384048"/>
          </a:xfrm>
          <a:prstGeom prst="roundRect">
            <a:avLst>
              <a:gd name="adj" fmla="val 10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91056"/>
            <a:ext cx="676656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A79EC6"/>
                </a:solidFill>
                <a:latin typeface="Consolas"/>
              </a:rPr>
              <a:t>  FlowForge - Workflow Execution Engine      [Deploy Pipeline]  [Data Pipeline]  [Retry Demo]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1554480" cy="841248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295144"/>
            <a:ext cx="1417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checkout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3DD68C"/>
                </a:solidFill>
                <a:latin typeface="Consolas"/>
              </a:rPr>
              <a:t>success  60ms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2240280"/>
            <a:ext cx="1554480" cy="841248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2295144"/>
            <a:ext cx="1417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unit_tests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3DD68C"/>
                </a:solidFill>
                <a:latin typeface="Consolas"/>
              </a:rPr>
              <a:t>success  1.1s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5656" y="2240280"/>
            <a:ext cx="1554480" cy="841248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78808" y="2295144"/>
            <a:ext cx="1417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lint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3DD68C"/>
                </a:solidFill>
                <a:latin typeface="Consolas"/>
              </a:rPr>
              <a:t>success  1.1s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00400"/>
            <a:ext cx="1554480" cy="841248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255264"/>
            <a:ext cx="1417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deploy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55A9FF"/>
                </a:solidFill>
                <a:latin typeface="Consolas"/>
              </a:rPr>
              <a:t>running  2 attempts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41448" y="3200400"/>
            <a:ext cx="1554480" cy="841248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14600" y="3255264"/>
            <a:ext cx="1417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smoke_test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9EC6"/>
                </a:solidFill>
                <a:latin typeface="Consolas"/>
              </a:rPr>
              <a:t>pending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05656" y="3200400"/>
            <a:ext cx="1554480" cy="841248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78808" y="3255264"/>
            <a:ext cx="1417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F4F0FC"/>
                </a:solidFill>
                <a:latin typeface="Consolas"/>
              </a:rPr>
              <a:t>notify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9EC6"/>
                </a:solidFill>
                <a:latin typeface="Consolas"/>
              </a:rPr>
              <a:t>pending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74920"/>
            <a:ext cx="6675120" cy="1051560"/>
          </a:xfrm>
          <a:prstGeom prst="roundRect">
            <a:avLst>
              <a:gd name="adj" fmla="val 6000"/>
            </a:avLst>
          </a:prstGeom>
          <a:solidFill>
            <a:srgbClr val="14101F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38928"/>
            <a:ext cx="640080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A79EC6"/>
                </a:solidFill>
                <a:latin typeface="Consolas"/>
              </a:rPr>
              <a:t>[deploy] POST http://svc/api/deploy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A79EC6"/>
                </a:solidFill>
                <a:latin typeface="Consolas"/>
              </a:rPr>
              <a:t>[deploy] attempt 1 failed: HTTP 500 - retrying in 2.0s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A79EC6"/>
                </a:solidFill>
                <a:latin typeface="Consolas"/>
              </a:rPr>
              <a:t>[deploy] attempt 2 succeeded in 1.1s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A79EC6"/>
                </a:solidFill>
                <a:latin typeface="Consolas"/>
              </a:rPr>
              <a:t>[smoke_test] GET http://svc/api/deployments/3fa9c...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554480"/>
            <a:ext cx="3703320" cy="475488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55864" y="1618488"/>
            <a:ext cx="3593592" cy="46268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D94EFC"/>
                </a:solidFill>
                <a:latin typeface="Segoe UI"/>
              </a:rPr>
              <a:t>LIVE OBSERVABILITY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00">
                <a:solidFill>
                  <a:srgbClr val="F4F0FC"/>
                </a:solidFill>
                <a:latin typeface="Segoe UI"/>
              </a:rPr>
              <a:t>Real-time status of every step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00">
                <a:solidFill>
                  <a:srgbClr val="F4F0FC"/>
                </a:solidFill>
                <a:latin typeface="Segoe UI"/>
              </a:rPr>
              <a:t>Retries and failures visible the moment they happen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00">
                <a:solidFill>
                  <a:srgbClr val="F4F0FC"/>
                </a:solidFill>
                <a:latin typeface="Segoe UI"/>
              </a:rPr>
              <a:t>Full execution log, live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00">
                <a:solidFill>
                  <a:srgbClr val="F4F0FC"/>
                </a:solidFill>
                <a:latin typeface="Segoe UI"/>
              </a:rPr>
              <a:t>Every run persisted as a JSON artifact - a built-in audit trail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LIVE DEMO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Demo Scenario - the Deploy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874519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F4F0FC"/>
                </a:solidFill>
                <a:latin typeface="Consolas"/>
              </a:rPr>
              <a:t>checkout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DD68C"/>
                </a:solidFill>
                <a:latin typeface="Consolas"/>
              </a:rPr>
              <a:t>shell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2588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1417320"/>
            <a:ext cx="1874519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F4F0FC"/>
                </a:solidFill>
                <a:latin typeface="Consolas"/>
              </a:rPr>
              <a:t>unit_tests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DD68C"/>
                </a:solidFill>
                <a:latin typeface="Consolas"/>
              </a:rPr>
              <a:t>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74320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834640"/>
            <a:ext cx="1874519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F4F0FC"/>
                </a:solidFill>
                <a:latin typeface="Consolas"/>
              </a:rPr>
              <a:t>lint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DD68C"/>
                </a:solidFill>
                <a:latin typeface="Consolas"/>
              </a:rPr>
              <a:t>shell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92024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2011680"/>
            <a:ext cx="1874519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F4F0FC"/>
                </a:solidFill>
                <a:latin typeface="Consolas"/>
              </a:rPr>
              <a:t>deploy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55A9FF"/>
                </a:solidFill>
                <a:latin typeface="Consolas"/>
              </a:rPr>
              <a:t>http + retry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32588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1417320"/>
            <a:ext cx="1874519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F4F0FC"/>
                </a:solidFill>
                <a:latin typeface="Consolas"/>
              </a:rPr>
              <a:t>smoke_test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DD68C"/>
                </a:solidFill>
                <a:latin typeface="Consolas"/>
              </a:rPr>
              <a:t>http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74320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2834640"/>
            <a:ext cx="1874519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F4F0FC"/>
                </a:solidFill>
                <a:latin typeface="Consolas"/>
              </a:rPr>
              <a:t>notify_success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DD68C"/>
                </a:solidFill>
                <a:latin typeface="Consolas"/>
              </a:rPr>
              <a:t>http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11480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4206240"/>
            <a:ext cx="1874519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F4F0FC"/>
                </a:solidFill>
                <a:latin typeface="Consolas"/>
              </a:rPr>
              <a:t>notify_failure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FF6B87"/>
                </a:solidFill>
                <a:latin typeface="Consolas"/>
              </a:rPr>
              <a:t>http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560320" y="2331720"/>
            <a:ext cx="457200" cy="256032"/>
          </a:xfrm>
          <a:prstGeom prst="right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4892040" y="2331720"/>
            <a:ext cx="457200" cy="256032"/>
          </a:xfrm>
          <a:prstGeom prst="right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2560320" y="1737360"/>
            <a:ext cx="457200" cy="256032"/>
          </a:xfrm>
          <a:prstGeom prst="right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2560320" y="3154680"/>
            <a:ext cx="457200" cy="256032"/>
          </a:xfrm>
          <a:prstGeom prst="right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7269480" y="2331720"/>
            <a:ext cx="457200" cy="256032"/>
          </a:xfrm>
          <a:prstGeom prst="right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9646920" y="1737360"/>
            <a:ext cx="457200" cy="256032"/>
          </a:xfrm>
          <a:prstGeom prst="right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9646920" y="3154680"/>
            <a:ext cx="457200" cy="256032"/>
          </a:xfrm>
          <a:prstGeom prst="rightArrow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261D3D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D94EFC"/>
                </a:solidFill>
                <a:latin typeface="Segoe UI"/>
              </a:rPr>
              <a:t>What you saw in 90 seconds: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F4F0FC"/>
                </a:solidFill>
                <a:latin typeface="Segoe UI"/>
              </a:rPr>
              <a:t>Two steps ran in parallel  ·  deploy failed once and retried with backoff  ·  smoke test verified the result  ·  success AND failure notifications - both paths exist in the same 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WHY IT MATTERS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Practical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CI/CD pipelines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build - test - deploy - notify, with rollback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Data pipelines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parallel fetches, Python transforms, scheduled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4612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Incident runbooks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reproducible remediation - no tribal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24612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Provisioning &amp; ops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REST calls to clouds, Nutanix Prism, internal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9204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ETL &amp; integrations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loop over sources, transform, publish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89204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502920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On-call automation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retries and timeouts instead of 2 AM paging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BUILDING IT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Tech Stack &amp; 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4572000" cy="475488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023360" cy="4389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D94EFC"/>
                </a:solidFill>
                <a:latin typeface="Segoe UI"/>
              </a:rPr>
              <a:t>TECH STACK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Python</a:t>
            </a:r>
            <a:r>
              <a:rPr sz="1200">
                <a:solidFill>
                  <a:srgbClr val="A79EC6"/>
                </a:solidFill>
                <a:latin typeface="Segoe UI"/>
              </a:rPr>
              <a:t>  -  engine core - standard library only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threading</a:t>
            </a:r>
            <a:r>
              <a:rPr sz="1200">
                <a:solidFill>
                  <a:srgbClr val="A79EC6"/>
                </a:solidFill>
                <a:latin typeface="Segoe UI"/>
              </a:rPr>
              <a:t>  -  parallel step execution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subprocess</a:t>
            </a:r>
            <a:r>
              <a:rPr sz="1200">
                <a:solidFill>
                  <a:srgbClr val="A79EC6"/>
                </a:solidFill>
                <a:latin typeface="Segoe UI"/>
              </a:rPr>
              <a:t>  -  shell step sandbox &amp; timeouts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urllib</a:t>
            </a:r>
            <a:r>
              <a:rPr sz="1200">
                <a:solidFill>
                  <a:srgbClr val="A79EC6"/>
                </a:solidFill>
                <a:latin typeface="Segoe UI"/>
              </a:rPr>
              <a:t>  -  REST calls, status handling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FastAPI + uvicorn</a:t>
            </a:r>
            <a:r>
              <a:rPr sz="1200">
                <a:solidFill>
                  <a:srgbClr val="A79EC6"/>
                </a:solidFill>
                <a:latin typeface="Segoe UI"/>
              </a:rPr>
              <a:t>  -  REST API layer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Vanilla JS</a:t>
            </a:r>
            <a:r>
              <a:rPr sz="1200">
                <a:solidFill>
                  <a:srgbClr val="A79EC6"/>
                </a:solidFill>
                <a:latin typeface="Segoe UI"/>
              </a:rPr>
              <a:t>  -  dashboard - zero frontend deps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4F0FC"/>
                </a:solidFill>
                <a:latin typeface="Segoe UI"/>
              </a:rPr>
              <a:t>JSON artifacts</a:t>
            </a:r>
            <a:r>
              <a:rPr sz="1200">
                <a:solidFill>
                  <a:srgbClr val="A79EC6"/>
                </a:solidFill>
                <a:latin typeface="Segoe UI"/>
              </a:rPr>
              <a:t>  -  run history &amp; audit trail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554480"/>
            <a:ext cx="6336792" cy="475488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4104" y="1618488"/>
            <a:ext cx="6227064" cy="46268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94EFC"/>
                </a:solidFill>
                <a:latin typeface="Segoe UI"/>
              </a:rPr>
              <a:t>LEARNINGS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50">
                <a:solidFill>
                  <a:srgbClr val="F4F0FC"/>
                </a:solidFill>
                <a:latin typeface="Segoe UI"/>
              </a:rPr>
              <a:t>Scheduling is subtle - we reimplemented topological ordering and hit real concurrency bugs (shared contexts across parallel steps)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50">
                <a:solidFill>
                  <a:srgbClr val="F4F0FC"/>
                </a:solidFill>
                <a:latin typeface="Segoe UI"/>
              </a:rPr>
              <a:t>Failure is the default - retries, backoff and run policies were designed first, happy path second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50">
                <a:solidFill>
                  <a:srgbClr val="F4F0FC"/>
                </a:solidFill>
                <a:latin typeface="Segoe UI"/>
              </a:rPr>
              <a:t>A tiny expression parser beats eval() - safe conditions with predictable errors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50">
                <a:solidFill>
                  <a:srgbClr val="F4F0FC"/>
                </a:solidFill>
                <a:latin typeface="Segoe UI"/>
              </a:rPr>
              <a:t>Observability must be built-in - the JSON run artifact makes debugging and demos effortless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latin typeface="Segoe UI"/>
              </a:rPr>
              <a:t>  </a:t>
            </a:r>
            <a:r>
              <a:rPr sz="1000">
                <a:solidFill>
                  <a:srgbClr val="D94EFC"/>
                </a:solidFill>
                <a:latin typeface="Segoe UI"/>
              </a:rPr>
              <a:t>● </a:t>
            </a:r>
            <a:r>
              <a:rPr sz="1350">
                <a:solidFill>
                  <a:srgbClr val="F4F0FC"/>
                </a:solidFill>
                <a:latin typeface="Segoe UI"/>
              </a:rPr>
              <a:t>Standard library only - fewer deps, fewer surprises, and it runs on any Python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D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4EFC"/>
                </a:solidFill>
                <a:latin typeface="Segoe UI"/>
              </a:rPr>
              <a:t>WHERE IT GOES NEXT  </a:t>
            </a:r>
          </a:p>
          <a:p>
            <a:r>
              <a:rPr sz="3000" b="1">
                <a:solidFill>
                  <a:srgbClr val="F4F0FC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Triggers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webhooks, cron schedules, git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Visual DAG editor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design workflows by dragging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4612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Sandboxing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containerized shell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24612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Distributed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workers + queues for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9204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Integrations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Slack, Jira, Nutanix Prism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892040"/>
            <a:ext cx="5330952" cy="1508760"/>
          </a:xfrm>
          <a:prstGeom prst="roundRect">
            <a:avLst>
              <a:gd name="adj" fmla="val 6000"/>
            </a:avLst>
          </a:prstGeom>
          <a:solidFill>
            <a:srgbClr val="1E1830"/>
          </a:solidFill>
          <a:ln w="12700">
            <a:solidFill>
              <a:srgbClr val="261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5029200"/>
            <a:ext cx="48920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D94EFC"/>
                </a:solidFill>
                <a:latin typeface="Segoe UI"/>
              </a:rPr>
              <a:t>Idempotency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9EC6"/>
                </a:solidFill>
                <a:latin typeface="Segoe UI"/>
              </a:rPr>
              <a:t>cache step results, safe re-runs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79EC6"/>
                </a:solidFill>
                <a:latin typeface="Segoe UI"/>
              </a:rPr>
              <a:t>FlowForge  ·  Nutanix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94560"/>
            <a:ext cx="1115568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5600" b="1">
                <a:solidFill>
                  <a:srgbClr val="F4F0FC"/>
                </a:solidFill>
                <a:latin typeface="Segoe UI"/>
              </a:rPr>
              <a:t>Thank You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D94EFC"/>
                </a:solidFill>
                <a:latin typeface="Segoe UI"/>
              </a:rPr>
              <a:t>Workflows as data. Execution as a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0"/>
            <a:ext cx="11155680" cy="5609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0" dirty="0">
                <a:solidFill>
                  <a:srgbClr val="F4F0FC"/>
                </a:solidFill>
                <a:latin typeface="Segoe UI"/>
              </a:rPr>
              <a:t>Team [</a:t>
            </a:r>
            <a:r>
              <a:rPr lang="en-US" sz="1400" b="0" dirty="0">
                <a:solidFill>
                  <a:srgbClr val="F4F0FC"/>
                </a:solidFill>
                <a:latin typeface="Segoe UI"/>
              </a:rPr>
              <a:t>Coders</a:t>
            </a:r>
            <a:r>
              <a:rPr sz="1400" b="0" dirty="0">
                <a:solidFill>
                  <a:srgbClr val="F4F0FC"/>
                </a:solidFill>
                <a:latin typeface="Segoe UI"/>
              </a:rPr>
              <a:t>]  -  [</a:t>
            </a:r>
            <a:r>
              <a:rPr lang="en-US" sz="1400" dirty="0">
                <a:solidFill>
                  <a:srgbClr val="F4F0FC"/>
                </a:solidFill>
                <a:latin typeface="Segoe UI"/>
              </a:rPr>
              <a:t>Rishabh Kabra]</a:t>
            </a:r>
            <a:r>
              <a:rPr sz="1400" b="0" dirty="0">
                <a:solidFill>
                  <a:srgbClr val="F4F0FC"/>
                </a:solidFill>
                <a:latin typeface="Segoe UI"/>
              </a:rPr>
              <a:t> · [</a:t>
            </a:r>
            <a:r>
              <a:rPr lang="en-US" sz="1400" b="0" dirty="0">
                <a:solidFill>
                  <a:srgbClr val="F4F0FC"/>
                </a:solidFill>
                <a:latin typeface="Segoe UI"/>
              </a:rPr>
              <a:t>Himanshu Paswan</a:t>
            </a:r>
            <a:r>
              <a:rPr sz="1400" b="0" dirty="0">
                <a:solidFill>
                  <a:srgbClr val="F4F0FC"/>
                </a:solidFill>
                <a:latin typeface="Segoe UI"/>
              </a:rPr>
              <a:t>] · [</a:t>
            </a:r>
            <a:r>
              <a:rPr lang="en-US" sz="1400" b="0" dirty="0">
                <a:solidFill>
                  <a:srgbClr val="F4F0FC"/>
                </a:solidFill>
                <a:latin typeface="Segoe UI"/>
              </a:rPr>
              <a:t>Abhishek Kumar</a:t>
            </a:r>
            <a:r>
              <a:rPr sz="1400" b="0" dirty="0">
                <a:solidFill>
                  <a:srgbClr val="F4F0FC"/>
                </a:solidFill>
                <a:latin typeface="Segoe UI"/>
              </a:rPr>
              <a:t>] · [</a:t>
            </a:r>
            <a:r>
              <a:rPr lang="en-US" sz="1400" b="0" dirty="0">
                <a:solidFill>
                  <a:srgbClr val="F4F0FC"/>
                </a:solidFill>
                <a:latin typeface="Segoe UI"/>
              </a:rPr>
              <a:t>Sagar Barman</a:t>
            </a:r>
            <a:r>
              <a:rPr sz="1400" b="0" dirty="0">
                <a:solidFill>
                  <a:srgbClr val="F4F0FC"/>
                </a:solidFill>
                <a:latin typeface="Segoe UI"/>
              </a:rPr>
              <a:t>]</a:t>
            </a:r>
            <a:r>
              <a:rPr lang="en-US" sz="1400" b="0" dirty="0">
                <a:solidFill>
                  <a:srgbClr val="F4F0FC"/>
                </a:solidFill>
                <a:latin typeface="Segoe UI"/>
              </a:rPr>
              <a:t>  [Vasudev]</a:t>
            </a:r>
            <a:endParaRPr sz="1400" b="0" dirty="0">
              <a:solidFill>
                <a:srgbClr val="F4F0FC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 dirty="0">
                <a:solidFill>
                  <a:srgbClr val="A79EC6"/>
                </a:solidFill>
                <a:latin typeface="Segoe UI"/>
              </a:rPr>
              <a:t>Questions welcome - ask us to break something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2627</Words>
  <Application>Microsoft Office PowerPoint</Application>
  <PresentationFormat>Widescreen</PresentationFormat>
  <Paragraphs>289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FlowForge - Workflow Execution Engine</dc:title>
  <dc:subject>Nutanix Hackathon 2026</dc:subject>
  <dc:creator/>
  <cp:keywords/>
  <dc:description/>
  <cp:lastModifiedBy/>
  <cp:revision>1</cp:revision>
  <dcterms:created xsi:type="dcterms:W3CDTF">2013-01-27T09:14:16Z</dcterms:created>
  <dcterms:modified xsi:type="dcterms:W3CDTF">2026-09-06T20:27:25Z</dcterms:modified>
  <cp:category/>
</cp:coreProperties>
</file>